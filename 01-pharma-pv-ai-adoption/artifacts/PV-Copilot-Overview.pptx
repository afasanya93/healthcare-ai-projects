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Arial"/>
              </a:rPr>
              <a:t>Total incremental spend: $125,000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bubble3D val="0"/>
            <c:spPr>
              <a:solidFill>
                <a:srgbClr val="2E86A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Vendor pilot license</c:v>
                </c:pt>
                <c:pt idx="1">
                  <c:v>QA / validation support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85000</c:v>
                </c:pt>
                <c:pt idx="1">
                  <c:v>40000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Arial"/>
              </a:rPr>
              <a:t>Avg. Case Cycle Time (days) — target ≤1.5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Cycle Time (days)</c:v>
                </c:pt>
              </c:strCache>
            </c:strRef>
          </c:tx>
          <c:spPr>
            <a:solidFill>
              <a:srgbClr val="2E86AB"/>
            </a:solidFill>
            <a:ln w="31750" cap="flat">
              <a:solidFill>
                <a:srgbClr val="2E8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Baseline</c:v>
                  </c:pt>
                  <c:pt idx="1">
                    <c:v>Wk5</c:v>
                  </c:pt>
                  <c:pt idx="2">
                    <c:v>Wk6</c:v>
                  </c:pt>
                  <c:pt idx="3">
                    <c:v>Wk7</c:v>
                  </c:pt>
                  <c:pt idx="4">
                    <c:v>Wk8</c:v>
                  </c:pt>
                  <c:pt idx="5">
                    <c:v>Wk9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3.5</c:v>
                </c:pt>
                <c:pt idx="1">
                  <c:v>2.1</c:v>
                </c:pt>
                <c:pt idx="2">
                  <c:v>1.8</c:v>
                </c:pt>
                <c:pt idx="3">
                  <c:v>1.6</c:v>
                </c:pt>
                <c:pt idx="4">
                  <c:v>1.5</c:v>
                </c:pt>
                <c:pt idx="5">
                  <c:v>1.3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AAAAA"/>
            </a:solidFill>
            <a:ln w="31750" cap="flat">
              <a:solidFill>
                <a:srgbClr val="AAAA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Baseline</c:v>
                  </c:pt>
                  <c:pt idx="1">
                    <c:v>Wk5</c:v>
                  </c:pt>
                  <c:pt idx="2">
                    <c:v>Wk6</c:v>
                  </c:pt>
                  <c:pt idx="3">
                    <c:v>Wk7</c:v>
                  </c:pt>
                  <c:pt idx="4">
                    <c:v>Wk8</c:v>
                  </c:pt>
                  <c:pt idx="5">
                    <c:v>Wk9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1.5</c:v>
                </c:pt>
                <c:pt idx="1">
                  <c:v>1.5</c:v>
                </c:pt>
                <c:pt idx="2">
                  <c:v>1.5</c:v>
                </c:pt>
                <c:pt idx="3">
                  <c:v>1.5</c:v>
                </c:pt>
                <c:pt idx="4">
                  <c:v>1.5</c:v>
                </c:pt>
                <c:pt idx="5">
                  <c:v>1.5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Arial"/>
              </a:rPr>
              <a:t>AI / Human Coding Concordance (%) — target ≥90%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Concordance (%)</c:v>
                </c:pt>
              </c:strCache>
            </c:strRef>
          </c:tx>
          <c:spPr>
            <a:solidFill>
              <a:srgbClr val="1F3864"/>
            </a:solidFill>
            <a:ln w="31750" cap="flat">
              <a:solidFill>
                <a:srgbClr val="1F386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Wk5</c:v>
                  </c:pt>
                  <c:pt idx="1">
                    <c:v>Wk6</c:v>
                  </c:pt>
                  <c:pt idx="2">
                    <c:v>Wk7</c:v>
                  </c:pt>
                  <c:pt idx="3">
                    <c:v>Wk8</c:v>
                  </c:pt>
                  <c:pt idx="4">
                    <c:v>Wk9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</c:v>
                </c:pt>
                <c:pt idx="1">
                  <c:v>88</c:v>
                </c:pt>
                <c:pt idx="2">
                  <c:v>90</c:v>
                </c:pt>
                <c:pt idx="3">
                  <c:v>91</c:v>
                </c:pt>
                <c:pt idx="4">
                  <c:v>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AAAAA"/>
            </a:solidFill>
            <a:ln w="31750" cap="flat">
              <a:solidFill>
                <a:srgbClr val="AAAA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Wk5</c:v>
                  </c:pt>
                  <c:pt idx="1">
                    <c:v>Wk6</c:v>
                  </c:pt>
                  <c:pt idx="2">
                    <c:v>Wk7</c:v>
                  </c:pt>
                  <c:pt idx="3">
                    <c:v>Wk8</c:v>
                  </c:pt>
                  <c:pt idx="4">
                    <c:v>Wk9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PV-Copilot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Signal Detection &amp; Case Triage in Pharmacovigilance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Biopharma (fictional)   |   90-Day Pilot   |   Prepared by Dana Whitfield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30-60-90 Day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640080"/>
          </a:xfrm>
          <a:prstGeom prst="roundRect">
            <a:avLst>
              <a:gd name="adj" fmla="val 11429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0-30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42519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31546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vendor SOW &amp; data agreement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sandboxed environment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De-identify 24 months of case data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model v0.1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 validation sign-off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234440"/>
            <a:ext cx="3520440" cy="640080"/>
          </a:xfrm>
          <a:prstGeom prst="roundRect">
            <a:avLst>
              <a:gd name="adj" fmla="val 11429"/>
            </a:avLst>
          </a:prstGeom>
          <a:solidFill>
            <a:srgbClr val="2E86A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89120" y="12344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31-60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Pilot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520440" cy="42519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103120"/>
            <a:ext cx="31546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on real case flow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concordance measurement begins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Mid-pilot checkpoint review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model to v0.2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UAT with PV physicians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0" y="1234440"/>
            <a:ext cx="3520440" cy="640080"/>
          </a:xfrm>
          <a:prstGeom prst="roundRect">
            <a:avLst>
              <a:gd name="adj" fmla="val 11429"/>
            </a:avLst>
          </a:prstGeom>
          <a:solidFill>
            <a:srgbClr val="C777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12344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61-90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Decide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1920240"/>
            <a:ext cx="3520440" cy="42519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2103120"/>
            <a:ext cx="31546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concordance target sustained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validation evidence package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rollout business case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Committee go/no-go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retrospective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Biopharma (fictional)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Budget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43000"/>
          <a:ext cx="585216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675120" y="1143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1600200"/>
            <a:ext cx="4937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live with real case flow by Day 60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≥90% AI/human coding concordance sustained 2 consecutive weeks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missed serious/unexpected AE signals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recommendation to Safety Committee by Day 90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Biopharma (fictional)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Trend — Weeks 5 to 9 of Pilot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5778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172200" y="1097280"/>
          <a:ext cx="55778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Biopharma (fictional)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834640"/>
                <a:gridCol w="1371600"/>
                <a:gridCol w="12801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Likelihood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R1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AI under-codes rare/serious AE terms, missing a signal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100% human review during pilot; weekly concordance audit by seriousness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R3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PV physician review capacity insufficient for pilot volume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7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Cap pilot volume at 150 cases/week; escalation path for surge coverage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R4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Regulatory Affairs raises late objection at Safety Committee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Regulatory Affairs seated on Steering Committee from Day 1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Biopharma (fictional)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Accountability (RACI)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Sponsor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QA Dir.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PV MDs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Coder SME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Vendor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Vendor SOW &amp; DPA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Model calibration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Validation protocol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Pilot go-live decision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Go/no-go recommendation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172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Responsible   A = Accountable   C = Consulted   I = Informed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Biopharma (fictional)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2026-09-22T23:48:27Z</dcterms:created>
  <dcterms:modified xsi:type="dcterms:W3CDTF">2026-09-22T23:48:27Z</dcterms:modified>
</cp:coreProperties>
</file>