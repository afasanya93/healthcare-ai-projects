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222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22222"/>
                </a:solidFill>
                <a:latin typeface="Arial"/>
              </a:rPr>
              <a:t>Total incremental spend: $170,000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bubble3D val="0"/>
            <c:spPr>
              <a:solidFill>
                <a:srgbClr val="2E86AB"/>
              </a:solidFill>
              <a:effectLst/>
            </c:spPr>
          </c:dPt>
          <c:dPt>
            <c:idx val="2"/>
            <c:bubble3D val="0"/>
            <c:spPr>
              <a:solidFill>
                <a:srgbClr val="C7770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Vendor license + Epic integration</c:v>
                </c:pt>
                <c:pt idx="1">
                  <c:v>Security/privacy assessment</c:v>
                </c:pt>
                <c:pt idx="2">
                  <c:v>Change mgmt &amp; training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120000</c:v>
                </c:pt>
                <c:pt idx="1">
                  <c:v>30000</c:v>
                </c:pt>
                <c:pt idx="2">
                  <c:v>20000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222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22222"/>
                </a:solidFill>
                <a:latin typeface="Arial"/>
              </a:rPr>
              <a:t>After-Hours Documentation Time — target ≤1.3 hrs/day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After-hours doc time (hrs/day)</c:v>
                </c:pt>
              </c:strCache>
            </c:strRef>
          </c:tx>
          <c:spPr>
            <a:solidFill>
              <a:srgbClr val="2E86AB"/>
            </a:solidFill>
            <a:ln w="31750" cap="flat">
              <a:solidFill>
                <a:srgbClr val="2E86A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86AB"/>
              </a:solidFill>
              <a:ln w="9525" cap="flat">
                <a:solidFill>
                  <a:srgbClr val="2E86A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Baseline</c:v>
                  </c:pt>
                  <c:pt idx="1">
                    <c:v>Wk5</c:v>
                  </c:pt>
                  <c:pt idx="2">
                    <c:v>Wk6</c:v>
                  </c:pt>
                  <c:pt idx="3">
                    <c:v>Wk7</c:v>
                  </c:pt>
                  <c:pt idx="4">
                    <c:v>Wk8</c:v>
                  </c:pt>
                  <c:pt idx="5">
                    <c:v>Wk9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2.1</c:v>
                </c:pt>
                <c:pt idx="1">
                  <c:v>1.6</c:v>
                </c:pt>
                <c:pt idx="2">
                  <c:v>1.4</c:v>
                </c:pt>
                <c:pt idx="3">
                  <c:v>1.25</c:v>
                </c:pt>
                <c:pt idx="4">
                  <c:v>1.15</c:v>
                </c:pt>
                <c:pt idx="5">
                  <c:v>1.05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AAAAAA"/>
            </a:solidFill>
            <a:ln w="31750" cap="flat">
              <a:solidFill>
                <a:srgbClr val="AAAAA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AAAAA"/>
              </a:solidFill>
              <a:ln w="9525" cap="flat">
                <a:solidFill>
                  <a:srgbClr val="AAAAA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Baseline</c:v>
                  </c:pt>
                  <c:pt idx="1">
                    <c:v>Wk5</c:v>
                  </c:pt>
                  <c:pt idx="2">
                    <c:v>Wk6</c:v>
                  </c:pt>
                  <c:pt idx="3">
                    <c:v>Wk7</c:v>
                  </c:pt>
                  <c:pt idx="4">
                    <c:v>Wk8</c:v>
                  </c:pt>
                  <c:pt idx="5">
                    <c:v>Wk9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1.3</c:v>
                </c:pt>
                <c:pt idx="1">
                  <c:v>1.3</c:v>
                </c:pt>
                <c:pt idx="2">
                  <c:v>1.3</c:v>
                </c:pt>
                <c:pt idx="3">
                  <c:v>1.3</c:v>
                </c:pt>
                <c:pt idx="4">
                  <c:v>1.3</c:v>
                </c:pt>
                <c:pt idx="5">
                  <c:v>1.3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222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22222"/>
                </a:solidFill>
                <a:latin typeface="Arial"/>
              </a:rPr>
              <a:t>Chart Audit Pass Rate (minor-edit-only) — target ≥95%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Note quality pass rate (%)</c:v>
                </c:pt>
              </c:strCache>
            </c:strRef>
          </c:tx>
          <c:spPr>
            <a:solidFill>
              <a:srgbClr val="1F3864"/>
            </a:solidFill>
            <a:ln w="31750" cap="flat">
              <a:solidFill>
                <a:srgbClr val="1F386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3864"/>
              </a:solidFill>
              <a:ln w="9525" cap="flat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Wk7</c:v>
                  </c:pt>
                  <c:pt idx="1">
                    <c:v>Wk8</c:v>
                  </c:pt>
                  <c:pt idx="2">
                    <c:v>Wk9</c:v>
                  </c:pt>
                  <c:pt idx="3">
                    <c:v>Wk10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</c:v>
                </c:pt>
                <c:pt idx="1">
                  <c:v>97</c:v>
                </c:pt>
                <c:pt idx="2">
                  <c:v>98</c:v>
                </c:pt>
                <c:pt idx="3">
                  <c:v>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AAAAAA"/>
            </a:solidFill>
            <a:ln w="31750" cap="flat">
              <a:solidFill>
                <a:srgbClr val="AAAAA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AAAAA"/>
              </a:solidFill>
              <a:ln w="9525" cap="flat">
                <a:solidFill>
                  <a:srgbClr val="AAAAA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Wk7</c:v>
                  </c:pt>
                  <c:pt idx="1">
                    <c:v>Wk8</c:v>
                  </c:pt>
                  <c:pt idx="2">
                    <c:v>Wk9</c:v>
                  </c:pt>
                  <c:pt idx="3">
                    <c:v>Wk10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95</c:v>
                </c:pt>
                <c:pt idx="1">
                  <c:v>95</c:v>
                </c:pt>
                <c:pt idx="2">
                  <c:v>95</c:v>
                </c:pt>
                <c:pt idx="3">
                  <c:v>95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ScribeOS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Clinical Documentation Copilot Rollout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Crestview Health System (fictional)   |   90-Day Pilot   |   Prepared by Marcus Ilić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30-60-90 Day Plan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520440" cy="640080"/>
          </a:xfrm>
          <a:prstGeom prst="roundRect">
            <a:avLst>
              <a:gd name="adj" fmla="val 11429"/>
            </a:avLst>
          </a:prstGeom>
          <a:solidFill>
            <a:srgbClr val="1F38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0-30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Design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20440" cy="425196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103120"/>
            <a:ext cx="31546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vendor contract &amp; BAA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Security/privacy risk assessment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patient consent workflow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 Epic integration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Committee go/no-go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9120" y="1234440"/>
            <a:ext cx="3520440" cy="640080"/>
          </a:xfrm>
          <a:prstGeom prst="roundRect">
            <a:avLst>
              <a:gd name="adj" fmla="val 11429"/>
            </a:avLst>
          </a:prstGeom>
          <a:solidFill>
            <a:srgbClr val="2E86A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389120" y="12344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31-60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&amp; Monitor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89120" y="1920240"/>
            <a:ext cx="3520440" cy="425196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2103120"/>
            <a:ext cx="31546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Staggered go-live, 3 clinics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documentation-time tracking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chart-quality audit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feedback session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Consent-compliance spot checks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0" y="1234440"/>
            <a:ext cx="3520440" cy="640080"/>
          </a:xfrm>
          <a:prstGeom prst="roundRect">
            <a:avLst>
              <a:gd name="adj" fmla="val 11429"/>
            </a:avLst>
          </a:prstGeom>
          <a:solidFill>
            <a:srgbClr val="C777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0" y="12344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61-90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Decide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0" y="1920240"/>
            <a:ext cx="3520440" cy="425196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0" y="2103120"/>
            <a:ext cx="31546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doc-time reduction sustained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chart-quality &amp; consent audit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system-wide scaling case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Informatics go/no-go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retrospective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Crestview Health System (fictional)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Budget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43000"/>
          <a:ext cx="585216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675120" y="1143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675120" y="1600200"/>
            <a:ext cx="49377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all 3 pilot clinics by Day 45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≥40% reduction in after-hours documentation time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≥95% of AI-drafted notes need only minor edits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recommendation to Steering Committee by Day 90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Crestview Health System (fictional)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Trend — Weeks 5 to 9 of Pilot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57784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172200" y="1097280"/>
          <a:ext cx="557784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Crestview Health System (fictional)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834640"/>
                <a:gridCol w="1371600"/>
                <a:gridCol w="12801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Likelihood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R1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Patients decline consent at a higher rate than assumed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7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Track opt-out rate weekly from go-live; non-AI documentation fallback ready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R2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AI-drafted note contains an error a rushed physician signs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Low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Mandatory physician review before signing; chart audits screen specifically for signed errors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R3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Vendor retains PHI beyond the agreed processing window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Low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Contractual retention terms; technical verification in security assessment; periodic log audits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Crestview Health System (fictional)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Accountability (RACI)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295400"/>
                <a:gridCol w="1295400"/>
                <a:gridCol w="1295400"/>
                <a:gridCol w="1295400"/>
                <a:gridCol w="1295400"/>
                <a:gridCol w="1295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Activity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PM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Sponsor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CISO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Compliance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Med. Dir.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Vendor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Vendor contract &amp; BAA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Security risk assessment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Consent workflow design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Go-live decision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Scaling recommendation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172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Responsible   A = Accountable   C = Consulted   I = Informed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Crestview Health System (fictional)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2026-09-22T23:48:27Z</dcterms:created>
  <dcterms:modified xsi:type="dcterms:W3CDTF">2026-09-22T23:48:27Z</dcterms:modified>
</cp:coreProperties>
</file>